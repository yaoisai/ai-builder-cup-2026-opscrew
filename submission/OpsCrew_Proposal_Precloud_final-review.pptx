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e4a9685c7b4eec" /><Relationship Type="http://schemas.openxmlformats.org/officeDocument/2006/relationships/extended-properties" Target="/docProps/app.xml" Id="R7d9738c59aba4ca9" /><Relationship Type="http://schemas.openxmlformats.org/officeDocument/2006/relationships/officeDocument" Target="/ppt/presentation.xml" Id="Rde33c6d5a7c3457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afdb9252261471a"/>
  </p:sldMasterIdLst>
  <p:notesMasterIdLst>
    <p:notesMasterId xmlns:r="http://schemas.openxmlformats.org/officeDocument/2006/relationships" r:id="Ra1c7260a7cdc49b1"/>
  </p:notesMasterIdLst>
  <p:sldIdLst>
    <p:sldId xmlns:r="http://schemas.openxmlformats.org/officeDocument/2006/relationships" id="256" r:id="Rc4ff8f71011540a6"/>
    <p:sldId xmlns:r="http://schemas.openxmlformats.org/officeDocument/2006/relationships" id="257" r:id="R6ab6e5b858944b02"/>
    <p:sldId xmlns:r="http://schemas.openxmlformats.org/officeDocument/2006/relationships" id="258" r:id="R0e7b52c4354846ea"/>
    <p:sldId xmlns:r="http://schemas.openxmlformats.org/officeDocument/2006/relationships" id="259" r:id="R3cfd9cedd50b4f54"/>
    <p:sldId xmlns:r="http://schemas.openxmlformats.org/officeDocument/2006/relationships" id="260" r:id="Rb4a1a0387ce0495e"/>
    <p:sldId xmlns:r="http://schemas.openxmlformats.org/officeDocument/2006/relationships" id="261" r:id="R60f782a4ce6043d2"/>
    <p:sldId xmlns:r="http://schemas.openxmlformats.org/officeDocument/2006/relationships" id="262" r:id="R62502cebff934c98"/>
    <p:sldId xmlns:r="http://schemas.openxmlformats.org/officeDocument/2006/relationships" id="263" r:id="R9243605d0c114494"/>
    <p:sldId xmlns:r="http://schemas.openxmlformats.org/officeDocument/2006/relationships" id="264" r:id="R9ba4564c0ccc47ca"/>
    <p:sldId xmlns:r="http://schemas.openxmlformats.org/officeDocument/2006/relationships" id="265" r:id="R0b21cba355634247"/>
    <p:sldId xmlns:r="http://schemas.openxmlformats.org/officeDocument/2006/relationships" id="266" r:id="Rfea6278a52ec46d3"/>
    <p:sldId xmlns:r="http://schemas.openxmlformats.org/officeDocument/2006/relationships" id="267" r:id="R7baba48ccfc248bd"/>
    <p:sldId xmlns:r="http://schemas.openxmlformats.org/officeDocument/2006/relationships" id="268" r:id="Rd7fee8af0b394616"/>
  </p:sldIdLst>
  <p:sldSz cx="9144000" cy="5143500"/>
  <p:notesSz cx="6858000" cy="9144000"/>
  <p:embeddedFontLst>
    <p:embeddedFont>
      <p:font typeface="Google Sans Flex Medium"/>
      <p:regular xmlns:r="http://schemas.openxmlformats.org/officeDocument/2006/relationships" r:id="R45b7d2a2c466467a"/>
      <p:bold xmlns:r="http://schemas.openxmlformats.org/officeDocument/2006/relationships" r:id="R0a75c5c04b6045a7"/>
    </p:embeddedFont>
    <p:embeddedFont>
      <p:font typeface="Google Sans Flex"/>
      <p:regular xmlns:r="http://schemas.openxmlformats.org/officeDocument/2006/relationships" r:id="R8949237f882f455b"/>
      <p:bold xmlns:r="http://schemas.openxmlformats.org/officeDocument/2006/relationships" r:id="Rce67b16ff89940c5"/>
    </p:embeddedFont>
    <p:embeddedFont>
      <p:font typeface="Google Sans Flex SemiBold"/>
      <p:regular xmlns:r="http://schemas.openxmlformats.org/officeDocument/2006/relationships" r:id="Rb8c0dd4b54f94990"/>
      <p:bold xmlns:r="http://schemas.openxmlformats.org/officeDocument/2006/relationships" r:id="R17d53096edca4f0b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70e771b46743b9" /><Relationship Type="http://schemas.openxmlformats.org/officeDocument/2006/relationships/slideMaster" Target="/ppt/slideMasters/slideMaster1.xml" Id="R8afdb9252261471a" /><Relationship Type="http://schemas.openxmlformats.org/officeDocument/2006/relationships/notesMaster" Target="/ppt/notesMasters/notesMaster1.xml" Id="Ra1c7260a7cdc49b1" /><Relationship Type="http://schemas.openxmlformats.org/officeDocument/2006/relationships/presProps" Target="/ppt/presProps.xml" Id="R602749ae2fc44192" /><Relationship Type="http://schemas.openxmlformats.org/officeDocument/2006/relationships/viewProps" Target="/ppt/viewProps.xml" Id="Re76c4a3365904874" /><Relationship Type="http://schemas.openxmlformats.org/officeDocument/2006/relationships/tableStyles" Target="/ppt/tableStyles.xml" Id="R993b11b8c6f54903" /><Relationship Type="http://schemas.openxmlformats.org/officeDocument/2006/relationships/font" Target="/ppt/fonts/font.dat" Id="R45b7d2a2c466467a" /><Relationship Type="http://schemas.openxmlformats.org/officeDocument/2006/relationships/font" Target="/ppt/fonts/font2.dat" Id="R0a75c5c04b6045a7" /><Relationship Type="http://schemas.openxmlformats.org/officeDocument/2006/relationships/font" Target="/ppt/fonts/font3.dat" Id="R8949237f882f455b" /><Relationship Type="http://schemas.openxmlformats.org/officeDocument/2006/relationships/font" Target="/ppt/fonts/font4.dat" Id="Rce67b16ff89940c5" /><Relationship Type="http://schemas.openxmlformats.org/officeDocument/2006/relationships/font" Target="/ppt/fonts/font5.dat" Id="Rb8c0dd4b54f94990" /><Relationship Type="http://schemas.openxmlformats.org/officeDocument/2006/relationships/font" Target="/ppt/fonts/font6.dat" Id="R17d53096edca4f0b" /><Relationship Type="http://schemas.openxmlformats.org/officeDocument/2006/relationships/slide" Target="/ppt/slides/slide1.xml" Id="Rc4ff8f71011540a6" /><Relationship Type="http://schemas.openxmlformats.org/officeDocument/2006/relationships/slide" Target="/ppt/slides/slide2.xml" Id="R6ab6e5b858944b02" /><Relationship Type="http://schemas.openxmlformats.org/officeDocument/2006/relationships/slide" Target="/ppt/slides/slide3.xml" Id="R0e7b52c4354846ea" /><Relationship Type="http://schemas.openxmlformats.org/officeDocument/2006/relationships/slide" Target="/ppt/slides/slide4.xml" Id="R3cfd9cedd50b4f54" /><Relationship Type="http://schemas.openxmlformats.org/officeDocument/2006/relationships/slide" Target="/ppt/slides/slide5.xml" Id="Rb4a1a0387ce0495e" /><Relationship Type="http://schemas.openxmlformats.org/officeDocument/2006/relationships/slide" Target="/ppt/slides/slide6.xml" Id="R60f782a4ce6043d2" /><Relationship Type="http://schemas.openxmlformats.org/officeDocument/2006/relationships/slide" Target="/ppt/slides/slide7.xml" Id="R62502cebff934c98" /><Relationship Type="http://schemas.openxmlformats.org/officeDocument/2006/relationships/slide" Target="/ppt/slides/slide8.xml" Id="R9243605d0c114494" /><Relationship Type="http://schemas.openxmlformats.org/officeDocument/2006/relationships/slide" Target="/ppt/slides/slide9.xml" Id="R9ba4564c0ccc47ca" /><Relationship Type="http://schemas.openxmlformats.org/officeDocument/2006/relationships/slide" Target="/ppt/slides/slide10.xml" Id="R0b21cba355634247" /><Relationship Type="http://schemas.openxmlformats.org/officeDocument/2006/relationships/slide" Target="/ppt/slides/slide11.xml" Id="Rfea6278a52ec46d3" /><Relationship Type="http://schemas.openxmlformats.org/officeDocument/2006/relationships/slide" Target="/ppt/slides/slide12.xml" Id="R7baba48ccfc248bd" /><Relationship Type="http://schemas.openxmlformats.org/officeDocument/2006/relationships/slide" Target="/ppt/slides/slide13.xml" Id="Rd7fee8af0b39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44f7e31c2448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9126487e1a470e" /><Relationship Type="http://schemas.openxmlformats.org/officeDocument/2006/relationships/notesMaster" Target="/ppt/notesMasters/notesMaster1.xml" Id="Rb82bae416484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ada37769e4bae" /><Relationship Type="http://schemas.openxmlformats.org/officeDocument/2006/relationships/notesMaster" Target="/ppt/notesMasters/notesMaster1.xml" Id="R4f206e76280842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a4028bafdd424d" /><Relationship Type="http://schemas.openxmlformats.org/officeDocument/2006/relationships/notesMaster" Target="/ppt/notesMasters/notesMaster1.xml" Id="Rc8cc5cab830e40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353aee524422f" /><Relationship Type="http://schemas.openxmlformats.org/officeDocument/2006/relationships/notesMaster" Target="/ppt/notesMasters/notesMaster1.xml" Id="R513da4bda19248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63a164d7a34671" /><Relationship Type="http://schemas.openxmlformats.org/officeDocument/2006/relationships/notesMaster" Target="/ppt/notesMasters/notesMaster1.xml" Id="Rd7508b097b6a45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511b15aeca4825" /><Relationship Type="http://schemas.openxmlformats.org/officeDocument/2006/relationships/notesMaster" Target="/ppt/notesMasters/notesMaster1.xml" Id="Rd9928ca1a11141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82ab9c74464c76" /><Relationship Type="http://schemas.openxmlformats.org/officeDocument/2006/relationships/notesMaster" Target="/ppt/notesMasters/notesMaster1.xml" Id="R158c208ece934c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43e87fa3084aeb" /><Relationship Type="http://schemas.openxmlformats.org/officeDocument/2006/relationships/notesMaster" Target="/ppt/notesMasters/notesMaster1.xml" Id="R48fe02a65ee24e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fa440701934afc" /><Relationship Type="http://schemas.openxmlformats.org/officeDocument/2006/relationships/notesMaster" Target="/ppt/notesMasters/notesMaster1.xml" Id="Rcc13281d951e45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47fb82f0504bfb" /><Relationship Type="http://schemas.openxmlformats.org/officeDocument/2006/relationships/notesMaster" Target="/ppt/notesMasters/notesMaster1.xml" Id="Rb904685be6ab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c174e1d074e8e" /><Relationship Type="http://schemas.openxmlformats.org/officeDocument/2006/relationships/notesMaster" Target="/ppt/notesMasters/notesMaster1.xml" Id="R1a2238dc827843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3be4345a044822" /><Relationship Type="http://schemas.openxmlformats.org/officeDocument/2006/relationships/notesMaster" Target="/ppt/notesMasters/notesMaster1.xml" Id="R2ca8e2d1250340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be71a5e33d4016" /><Relationship Type="http://schemas.openxmlformats.org/officeDocument/2006/relationships/notesMaster" Target="/ppt/notesMasters/notesMaster1.xml" Id="R14e2df33c6ff48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Captain public legal name and teammate names await owner confirmation. GitHub handle is an alias.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PROVENANCE.md: blank Google AI Studio Build origin. Logo supplied by owner as Gemini-generated.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https://aibuildercup.com/themes.html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SCOPE.md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docs/POLICY_AND_CONTRACTS.md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src/domain/workflow.ts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docs/S3_CONFIRMATION_CASES.md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docs/acceptance/S03-emulator-ui-mobile-2026-10-10.png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docs/CLOUD_TEAMMATE_HANDOFF.md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docs/PRECLOUD_DEPLOYMENT.md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server/firebase-runtime.ts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PROVENANCE.md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aistudio-export-2026-10-07/package-lock.json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docs/PRECLOUD_DEPLOYMENT.md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docs/DELIVERY_WORKBOARD.md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docs/PRECLOUD_BACKEND.md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docs/acceptance/S03-confirmation-and-cases.md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docs/acceptance/S03-emulator-ui-desktop-2026-10-10.png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docs/acceptance/PRECLOUD-validation-metrics-2026-10-11.json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docs/PRECLOUD_EVALUATION.md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docs/acceptance/S02-captured-result-revalidation-2026-10-10.json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docs/CLOUD_TEAMMATE_HANDOFF.md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docs/EVALUATION_PROTOCOL.md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https://github.com/sundaylee3100-ljl/AI-Builder-Cup-2026-OpsCrew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SUBMISSION_CHECKLIST.md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submission/RECORDING_PLAN.md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0d9e350ab44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6550e0ae34b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8bfeef9d542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b2dca835246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1ea525c664d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cb4b4f77143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a94e48b174f9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0c7b9805e41e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b5ea12f98461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395bbefe654f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7bfdfa752496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D09460D-9441-40AE-96C8-63606B4718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79B360D2-D337-4835-A0CC-45B2F3AC3E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E1D68A81-4B94-408E-9296-ACB371FA64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D9B855DD-E400-4D15-A322-E7A7AEDE0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1E6490D6-DB7D-4F7C-8DCE-2EBA543363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5E1E013A-DC01-4784-B02B-8689559930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E9B13C20-1D57-4017-AE6E-6FB31BD6F8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FE5D873C-0972-4C1E-ACFA-FBE70E6238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66156E34-E75F-4C82-9016-340A63AFB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F78D8C0A-1E53-4806-B76B-059F7BBAB7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39E111F-8FF9-4F57-BE24-62ACDDEEB6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7F311AE6-5073-476C-BEF6-4B28F6112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410C8B22-333C-472B-A306-2B7B1CF10E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8A53DADD-74B9-4B97-84F6-55DD6AE7D0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B45020DD-A4C2-4B1A-844B-3F29DF5DFB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5680ECDC-0906-499F-89BD-E8B082A5E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52ABA729-95C1-4EF8-8CF7-4CC8656127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42AB0011-F18B-4309-81C7-207D762C6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2D6CFDA3-4898-43B5-9DFE-969BF75CE3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33B8FC43-BF40-445F-804A-6CFE1E9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539A6FB9-6185-4878-BA72-56E5624E8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33D9EE1-9A91-4D98-8E0A-557B977343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E35A301D-5AD6-4313-8470-5CFC2C0BED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3ED662B1-2674-461D-BE04-C3CB0F7BB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C29121E5-EF85-4A4F-A563-8C6980ED3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B1DF8FE0-E905-4B49-9443-1B70FFBB88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A818FE0-E212-489B-9BF2-07AF0CAC45B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1C5D277D-399D-4C02-897A-ECA1D6BF7A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14FAADC-8E4A-4D35-8650-3B2F47962B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8B0EA5FD-4F60-47F3-A118-0632D488A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9042c83dd4400" /><Relationship Type="http://schemas.openxmlformats.org/officeDocument/2006/relationships/slideLayout" Target="/ppt/slideLayouts/slideLayout1.xml" Id="R0b267e0ef7bb4e07" /><Relationship Type="http://schemas.openxmlformats.org/officeDocument/2006/relationships/slideLayout" Target="/ppt/slideLayouts/slideLayout2.xml" Id="Rc85f3203bfd945e6" /><Relationship Type="http://schemas.openxmlformats.org/officeDocument/2006/relationships/slideLayout" Target="/ppt/slideLayouts/slideLayout3.xml" Id="Rbac35428a7404af9" /><Relationship Type="http://schemas.openxmlformats.org/officeDocument/2006/relationships/slideLayout" Target="/ppt/slideLayouts/slideLayout4.xml" Id="R7d1669f35e1941cf" /><Relationship Type="http://schemas.openxmlformats.org/officeDocument/2006/relationships/slideLayout" Target="/ppt/slideLayouts/slideLayout5.xml" Id="Rea3d582dff414594" /><Relationship Type="http://schemas.openxmlformats.org/officeDocument/2006/relationships/slideLayout" Target="/ppt/slideLayouts/slideLayout6.xml" Id="R2b33cbb312fb405c" /><Relationship Type="http://schemas.openxmlformats.org/officeDocument/2006/relationships/slideLayout" Target="/ppt/slideLayouts/slideLayout7.xml" Id="Rf77fd0140f7a4ddc" /><Relationship Type="http://schemas.openxmlformats.org/officeDocument/2006/relationships/slideLayout" Target="/ppt/slideLayouts/slideLayout8.xml" Id="Rb20d468d00164722" /><Relationship Type="http://schemas.openxmlformats.org/officeDocument/2006/relationships/slideLayout" Target="/ppt/slideLayouts/slideLayout9.xml" Id="Rdaef3301a5d846ab" /><Relationship Type="http://schemas.openxmlformats.org/officeDocument/2006/relationships/slideLayout" Target="/ppt/slideLayouts/slideLayout10.xml" Id="R07fe44be3495468e" /><Relationship Type="http://schemas.openxmlformats.org/officeDocument/2006/relationships/slideLayout" Target="/ppt/slideLayouts/slideLayout11.xml" Id="Rd4dcec4809b0464a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5ADBD95-D8E3-4142-8B00-1838357900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3DD495C-5B92-4479-B34A-FCC248A3AC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C950D3E1-3038-4530-83EE-B11849B340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67e0ef7bb4e07"/>
    <p:sldLayoutId xmlns:r="http://schemas.openxmlformats.org/officeDocument/2006/relationships" id="2147483650" r:id="Rc85f3203bfd945e6"/>
    <p:sldLayoutId xmlns:r="http://schemas.openxmlformats.org/officeDocument/2006/relationships" id="2147483651" r:id="Rbac35428a7404af9"/>
    <p:sldLayoutId xmlns:r="http://schemas.openxmlformats.org/officeDocument/2006/relationships" id="2147483652" r:id="R7d1669f35e1941cf"/>
    <p:sldLayoutId xmlns:r="http://schemas.openxmlformats.org/officeDocument/2006/relationships" id="2147483653" r:id="Rea3d582dff414594"/>
    <p:sldLayoutId xmlns:r="http://schemas.openxmlformats.org/officeDocument/2006/relationships" id="2147483654" r:id="R2b33cbb312fb405c"/>
    <p:sldLayoutId xmlns:r="http://schemas.openxmlformats.org/officeDocument/2006/relationships" id="2147483655" r:id="Rf77fd0140f7a4ddc"/>
    <p:sldLayoutId xmlns:r="http://schemas.openxmlformats.org/officeDocument/2006/relationships" id="2147483656" r:id="Rb20d468d00164722"/>
    <p:sldLayoutId xmlns:r="http://schemas.openxmlformats.org/officeDocument/2006/relationships" id="2147483657" r:id="Rdaef3301a5d846ab"/>
    <p:sldLayoutId xmlns:r="http://schemas.openxmlformats.org/officeDocument/2006/relationships" id="2147483658" r:id="R07fe44be3495468e"/>
    <p:sldLayoutId xmlns:r="http://schemas.openxmlformats.org/officeDocument/2006/relationships" id="2147483659" r:id="Rd4dcec4809b0464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33b1d03954561" /><Relationship Type="http://schemas.openxmlformats.org/officeDocument/2006/relationships/image" Target="/ppt/media/image.png" Id="R2a02f47888f74ea5" /><Relationship Type="http://schemas.openxmlformats.org/officeDocument/2006/relationships/image" Target="/ppt/media/image2.png" Id="Rb21e6d12ca2f4d3d" /><Relationship Type="http://schemas.openxmlformats.org/officeDocument/2006/relationships/image" Target="/ppt/media/image3.png" Id="R16802f63f8134679" /><Relationship Type="http://schemas.openxmlformats.org/officeDocument/2006/relationships/notesSlide" Target="/ppt/notesSlides/notesSlide1.xml" Id="R9306956591be4a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72235296b4dab" /><Relationship Type="http://schemas.openxmlformats.org/officeDocument/2006/relationships/image" Target="/ppt/media/image4.png" Id="R6312f9ab82f24ffe" /><Relationship Type="http://schemas.openxmlformats.org/officeDocument/2006/relationships/notesSlide" Target="/ppt/notesSlides/notesSlide2.xml" Id="R7039142a4103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3bbf4d3ca4c01" /><Relationship Type="http://schemas.openxmlformats.org/officeDocument/2006/relationships/image" Target="/ppt/media/image2.png" Id="R25a028c3d0894cc6" /><Relationship Type="http://schemas.openxmlformats.org/officeDocument/2006/relationships/image" Target="/ppt/media/image4.png" Id="R76d4a8fc6321464d" /><Relationship Type="http://schemas.openxmlformats.org/officeDocument/2006/relationships/notesSlide" Target="/ppt/notesSlides/notesSlide3.xml" Id="R8b7afdf7371345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a44834b8e49ad" /><Relationship Type="http://schemas.openxmlformats.org/officeDocument/2006/relationships/image" Target="/ppt/media/image2.png" Id="R3eb2c5304dfc42b9" /><Relationship Type="http://schemas.openxmlformats.org/officeDocument/2006/relationships/image" Target="/ppt/media/image4.png" Id="Rfcf0632ff8534fe9" /><Relationship Type="http://schemas.openxmlformats.org/officeDocument/2006/relationships/notesSlide" Target="/ppt/notesSlides/notesSlide4.xml" Id="R15b4e161cd70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c56509a3d4164" /><Relationship Type="http://schemas.openxmlformats.org/officeDocument/2006/relationships/image" Target="/ppt/media/image2.png" Id="Rfaf1f057b5bf4138" /><Relationship Type="http://schemas.openxmlformats.org/officeDocument/2006/relationships/image" Target="/ppt/media/image4.png" Id="R5ab210867a844b95" /><Relationship Type="http://schemas.openxmlformats.org/officeDocument/2006/relationships/notesSlide" Target="/ppt/notesSlides/notesSlide5.xml" Id="Rf9b5e0b37a9544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b8dbbc61f4dda" /><Relationship Type="http://schemas.openxmlformats.org/officeDocument/2006/relationships/image" Target="/ppt/media/image2.png" Id="Rfaf4c20585904b6b" /><Relationship Type="http://schemas.openxmlformats.org/officeDocument/2006/relationships/image" Target="/ppt/media/image4.png" Id="R0c1f9ed65cfc41b3" /><Relationship Type="http://schemas.openxmlformats.org/officeDocument/2006/relationships/image" Target="/ppt/media/image.jpeg" Id="Rc0dc81fbf9d84a13" /><Relationship Type="http://schemas.openxmlformats.org/officeDocument/2006/relationships/notesSlide" Target="/ppt/notesSlides/notesSlide6.xml" Id="R2711ada1f1204c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06964e1214a94" /><Relationship Type="http://schemas.openxmlformats.org/officeDocument/2006/relationships/image" Target="/ppt/media/image2.png" Id="Rb5c6929c9d7046bb" /><Relationship Type="http://schemas.openxmlformats.org/officeDocument/2006/relationships/image" Target="/ppt/media/image4.png" Id="R3ddc7657c37e4e76" /><Relationship Type="http://schemas.openxmlformats.org/officeDocument/2006/relationships/notesSlide" Target="/ppt/notesSlides/notesSlide7.xml" Id="Re735953fb54f43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f586d2a9b48c3" /><Relationship Type="http://schemas.openxmlformats.org/officeDocument/2006/relationships/image" Target="/ppt/media/image2.png" Id="R8ba45a9bb76c4b9a" /><Relationship Type="http://schemas.openxmlformats.org/officeDocument/2006/relationships/image" Target="/ppt/media/image4.png" Id="R1a0e951b6a1a4b2c" /><Relationship Type="http://schemas.openxmlformats.org/officeDocument/2006/relationships/notesSlide" Target="/ppt/notesSlides/notesSlide8.xml" Id="R698a584bfa5647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0916247a24a3d" /><Relationship Type="http://schemas.openxmlformats.org/officeDocument/2006/relationships/image" Target="/ppt/media/image2.png" Id="Rc5ae951cacb8407e" /><Relationship Type="http://schemas.openxmlformats.org/officeDocument/2006/relationships/image" Target="/ppt/media/image4.png" Id="R75fe654a940143ef" /><Relationship Type="http://schemas.openxmlformats.org/officeDocument/2006/relationships/notesSlide" Target="/ppt/notesSlides/notesSlide9.xml" Id="R0a590cae9b2749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cd5ad0714fd6" /><Relationship Type="http://schemas.openxmlformats.org/officeDocument/2006/relationships/image" Target="/ppt/media/image2.png" Id="R660fcd66d126440c" /><Relationship Type="http://schemas.openxmlformats.org/officeDocument/2006/relationships/image" Target="/ppt/media/image4.png" Id="R8a1911532baa4ff2" /><Relationship Type="http://schemas.openxmlformats.org/officeDocument/2006/relationships/image" Target="/ppt/media/image2.jpeg" Id="R396c04fd5ce0492b" /><Relationship Type="http://schemas.openxmlformats.org/officeDocument/2006/relationships/notesSlide" Target="/ppt/notesSlides/notesSlide10.xml" Id="R91a14030f22443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ffa1ad98444b" /><Relationship Type="http://schemas.openxmlformats.org/officeDocument/2006/relationships/image" Target="/ppt/media/image2.png" Id="R31b7b9741b1b407c" /><Relationship Type="http://schemas.openxmlformats.org/officeDocument/2006/relationships/image" Target="/ppt/media/image4.png" Id="R81689f4ac6994f84" /><Relationship Type="http://schemas.openxmlformats.org/officeDocument/2006/relationships/notesSlide" Target="/ppt/notesSlides/notesSlide11.xml" Id="Ra3f5eb83e8fe4f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80d4c82cd4ed0" /><Relationship Type="http://schemas.openxmlformats.org/officeDocument/2006/relationships/image" Target="/ppt/media/image2.png" Id="Radf19dede0b746de" /><Relationship Type="http://schemas.openxmlformats.org/officeDocument/2006/relationships/image" Target="/ppt/media/image4.png" Id="Red453b66b3724f08" /><Relationship Type="http://schemas.openxmlformats.org/officeDocument/2006/relationships/notesSlide" Target="/ppt/notesSlides/notesSlide12.xml" Id="R18f8be8fc4d240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9585e196643f1" /><Relationship Type="http://schemas.openxmlformats.org/officeDocument/2006/relationships/image" Target="/ppt/media/image2.png" Id="Ree985b05f71f4ba7" /><Relationship Type="http://schemas.openxmlformats.org/officeDocument/2006/relationships/image" Target="/ppt/media/image4.png" Id="R4c5deff22bd2445e" /><Relationship Type="http://schemas.openxmlformats.org/officeDocument/2006/relationships/hyperlink" Target="https://github.com/sundaylee3100-ljl/AI-Builder-Cup-2026-OpsCrew" TargetMode="External" Id="R5e81557bc3924927" /><Relationship Type="http://schemas.openxmlformats.org/officeDocument/2006/relationships/notesSlide" Target="/ppt/notesSlides/notesSlide13.xml" Id="Re84c12d942a746e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C3887E1-DBCE-4902-B801-C4F2C3291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2f47888f74ea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9EB3B01A-4837-4D18-BBF3-3A7D2E0242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1e6d12ca2f4d3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Team OpsCrew">
            <a:extLst xmlns:a="http://schemas.openxmlformats.org/drawingml/2006/main">
              <a:ext uri="{FF2B5EF4-FFF2-40B4-BE49-F238E27FC236}">
                <a16:creationId xmlns:a16="http://schemas.microsoft.com/office/drawing/2014/main" id="{ED0DF787-6435-4D14-A34F-5BDF9675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86075"/>
            <a:ext cx="708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4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OpsCrew</a:t>
            </a:r>
          </a:p>
        </p:txBody>
      </p:sp>
      <p:sp>
        <p:nvSpPr>
          <p:cNvPr id="58" name="Expense exception plans with human confirmation">
            <a:extLst xmlns:a="http://schemas.openxmlformats.org/drawingml/2006/main">
              <a:ext uri="{FF2B5EF4-FFF2-40B4-BE49-F238E27FC236}">
                <a16:creationId xmlns:a16="http://schemas.microsoft.com/office/drawing/2014/main" id="{22F8CB65-79B2-4550-81D7-1004C04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81375"/>
            <a:ext cx="700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Expense exception plans with human confirmation</a:t>
            </a:r>
          </a:p>
        </p:txBody>
      </p:sp>
      <p:sp>
        <p:nvSpPr>
          <p:cNvPr id="59" name="Captain: sundaylee3100-ljl (GitHub)&#10;Theme: Future ">
            <a:extLst xmlns:a="http://schemas.openxmlformats.org/drawingml/2006/main">
              <a:ext uri="{FF2B5EF4-FFF2-40B4-BE49-F238E27FC236}">
                <a16:creationId xmlns:a16="http://schemas.microsoft.com/office/drawing/2014/main" id="{1284D99A-EADC-4C07-AE7B-F91805F5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76700"/>
            <a:ext cx="719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Captain: sundaylee3100-ljl (GitHub)</a:t>
            </a:r>
          </a:p>
          <a:p xmlns:a="http://schemas.openxmlformats.org/drawingml/2006/main">
            <a:pPr>
              <a:def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Theme: Future of Work &amp; Enterprise Productivity</a:t>
            </a:r>
          </a:p>
        </p:txBody>
      </p:sp>
      <p:sp>
        <p:nvSpPr>
          <p:cNvPr id="60" name="Precloud review draft  /  11 October 2026">
            <a:extLst xmlns:a="http://schemas.openxmlformats.org/drawingml/2006/main">
              <a:ext uri="{FF2B5EF4-FFF2-40B4-BE49-F238E27FC236}">
                <a16:creationId xmlns:a16="http://schemas.microsoft.com/office/drawing/2014/main" id="{38E23C69-A668-4840-937F-56A46ACE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Precloud review draft  /  11 October 2026</a:t>
            </a: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11F374-2092-4029-94CA-793227274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02f63f8134679"/>
          <a:stretch xmlns:a="http://schemas.openxmlformats.org/drawingml/2006/main"/>
        </p:blipFill>
        <p:spPr>
          <a:xfrm xmlns:a="http://schemas.openxmlformats.org/drawingml/2006/main">
            <a:off x="7639050" y="3478054"/>
            <a:ext cx="1238250" cy="12258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004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3D244487-2FEE-4FDA-A66D-63BD385BB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2f9ab82f24ff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5A089D79-9219-4212-8625-B22B4387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Brief about the idea">
            <a:extLst xmlns:a="http://schemas.openxmlformats.org/drawingml/2006/main">
              <a:ext uri="{FF2B5EF4-FFF2-40B4-BE49-F238E27FC236}">
                <a16:creationId xmlns:a16="http://schemas.microsoft.com/office/drawing/2014/main" id="{39417F6A-A413-42D7-8C6C-980F2350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</a:p>
        </p:txBody>
      </p:sp>
      <p:sp>
        <p:nvSpPr>
          <p:cNvPr id="72" name="OpsCrew  /  Precloud review  /  2">
            <a:extLst xmlns:a="http://schemas.openxmlformats.org/drawingml/2006/main">
              <a:ext uri="{FF2B5EF4-FFF2-40B4-BE49-F238E27FC236}">
                <a16:creationId xmlns:a16="http://schemas.microsoft.com/office/drawing/2014/main" id="{33603C9B-DE03-4A3F-A9FB-56AB993C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2</a:t>
            </a:r>
          </a:p>
        </p:txBody>
      </p:sp>
      <p:sp>
        <p:nvSpPr>
          <p:cNvPr id="73" name="OpsCrew helps operations staff turn a synthetic ex">
            <a:extLst xmlns:a="http://schemas.openxmlformats.org/drawingml/2006/main">
              <a:ext uri="{FF2B5EF4-FFF2-40B4-BE49-F238E27FC236}">
                <a16:creationId xmlns:a16="http://schemas.microsoft.com/office/drawing/2014/main" id="{2C3ECD2F-A91B-43D0-97FB-CC7CB92F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OpsCrew helps operations staff turn a synthetic expense exception into a supported handling plan.</a:t>
            </a:r>
          </a:p>
        </p:txBody>
      </p:sp>
      <p:sp>
        <p:nvSpPr>
          <p:cNvPr id="74" name="Gemini extracts facts, proposes steps, then review">
            <a:extLst xmlns:a="http://schemas.openxmlformats.org/drawingml/2006/main">
              <a:ext uri="{FF2B5EF4-FFF2-40B4-BE49-F238E27FC236}">
                <a16:creationId xmlns:a16="http://schemas.microsoft.com/office/drawing/2014/main" id="{9E41A28E-5D5E-486E-A06F-6DCE379B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Gemini extracts facts, proposes steps, then reviews the proposal in a separate call. Fixed policy checks constrain each stage.</a:t>
            </a:r>
          </a:p>
        </p:txBody>
      </p:sp>
      <p:sp>
        <p:nvSpPr>
          <p:cNvPr id="75" name="A person reviews the current plan and explicitly c">
            <a:extLst xmlns:a="http://schemas.openxmlformats.org/drawingml/2006/main">
              <a:ext uri="{FF2B5EF4-FFF2-40B4-BE49-F238E27FC236}">
                <a16:creationId xmlns:a16="http://schemas.microsoft.com/office/drawing/2014/main" id="{AA327290-5E5F-4B21-86E1-F2EDB6D2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reviews the current plan and explicitly confirms a case. The app reads the saved record independently before showing success.</a:t>
            </a:r>
          </a:p>
        </p:txBody>
      </p:sp>
      <p:sp>
        <p:nvSpPr>
          <p:cNvPr id="76" name="The prototype covers one synthetic USD policy. It ">
            <a:extLst xmlns:a="http://schemas.openxmlformats.org/drawingml/2006/main">
              <a:ext uri="{FF2B5EF4-FFF2-40B4-BE49-F238E27FC236}">
                <a16:creationId xmlns:a16="http://schemas.microsoft.com/office/drawing/2014/main" id="{2E32B244-1C53-4638-A1F3-796E1AE4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prototype covers one synthetic USD policy. It creates handling records and performs no reimbursement or payment.</a:t>
            </a:r>
          </a:p>
        </p:txBody>
      </p:sp>
    </p:spTree>
    <p:extLst>
      <p:ext uri="{BB962C8B-B14F-4D97-AF65-F5344CB8AC3E}">
        <p14:creationId xmlns:p14="http://schemas.microsoft.com/office/powerpoint/2010/main" val="4671972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52F9B186-87E0-42D8-87F5-7F0C117C24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5a028c3d0894cc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23302176-AF40-4034-8D15-FCB2CFC49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4a8fc6321464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D7AB54F3-A403-4DB0-B68A-4B573EA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Opportunities and proposed value">
            <a:extLst xmlns:a="http://schemas.openxmlformats.org/drawingml/2006/main">
              <a:ext uri="{FF2B5EF4-FFF2-40B4-BE49-F238E27FC236}">
                <a16:creationId xmlns:a16="http://schemas.microsoft.com/office/drawing/2014/main" id="{0A38396B-6DDE-42F4-8D47-A231E70A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Opportunities and proposed value</a:t>
            </a:r>
          </a:p>
        </p:txBody>
      </p:sp>
      <p:sp>
        <p:nvSpPr>
          <p:cNvPr id="80" name="OpsCrew  /  Precloud review  /  3">
            <a:extLst xmlns:a="http://schemas.openxmlformats.org/drawingml/2006/main">
              <a:ext uri="{FF2B5EF4-FFF2-40B4-BE49-F238E27FC236}">
                <a16:creationId xmlns:a16="http://schemas.microsoft.com/office/drawing/2014/main" id="{A46FB048-9C8A-40BF-8E85-1765BCF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3</a:t>
            </a:r>
          </a:p>
        </p:txBody>
      </p:sp>
      <p:sp>
        <p:nvSpPr>
          <p:cNvPr id="81" name="Problem: staff must reconcile intake text, missing">
            <a:extLst xmlns:a="http://schemas.openxmlformats.org/drawingml/2006/main">
              <a:ext uri="{FF2B5EF4-FFF2-40B4-BE49-F238E27FC236}">
                <a16:creationId xmlns:a16="http://schemas.microsoft.com/office/drawing/2014/main" id="{BF3880DA-F3A6-4455-84EC-D3CEFAD2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Problem: staff must reconcile intake text, missing receipts and policy thresholds before deciding what to request next.</a:t>
            </a:r>
          </a:p>
        </p:txBody>
      </p:sp>
      <p:sp>
        <p:nvSpPr>
          <p:cNvPr id="82" name="Proposed difference: OpsCrew binds the plan to sup">
            <a:extLst xmlns:a="http://schemas.openxmlformats.org/drawingml/2006/main">
              <a:ext uri="{FF2B5EF4-FFF2-40B4-BE49-F238E27FC236}">
                <a16:creationId xmlns:a16="http://schemas.microsoft.com/office/drawing/2014/main" id="{5BEDFC0D-B507-42FA-A649-EE67A8B8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Proposed difference: OpsCrew binds the plan to supported facts and exact policy clauses, then stores the person's confirmation with that version.</a:t>
            </a:r>
          </a:p>
        </p:txBody>
      </p:sp>
      <p:sp>
        <p:nvSpPr>
          <p:cNvPr id="83" name="Design value: input edits invalidate old plans. Co">
            <a:extLst xmlns:a="http://schemas.openxmlformats.org/drawingml/2006/main">
              <a:ext uri="{FF2B5EF4-FFF2-40B4-BE49-F238E27FC236}">
                <a16:creationId xmlns:a16="http://schemas.microsoft.com/office/drawing/2014/main" id="{6CEE847D-D059-4E16-B1F1-B6EA2CCD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Design value: input edits invalidate old plans. Contradictions and unsupported citations block case creation.</a:t>
            </a:r>
          </a:p>
        </p:txBody>
      </p:sp>
      <p:sp>
        <p:nvSpPr>
          <p:cNvPr id="84" name="Expected impact: clearer exception triage and fewe">
            <a:extLst xmlns:a="http://schemas.openxmlformats.org/drawingml/2006/main">
              <a:ext uri="{FF2B5EF4-FFF2-40B4-BE49-F238E27FC236}">
                <a16:creationId xmlns:a16="http://schemas.microsoft.com/office/drawing/2014/main" id="{2CA98864-1183-467C-8F78-6F6511AA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Expected impact: clearer exception triage and fewer unsupported actions. Actual staff time savings and customer adoption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5987816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77757A58-5F9F-4E00-B87F-B1B6F293BE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b2c5304dfc42b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B2320F8D-D370-4D8E-AFD6-D4C66FEC5F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f0632ff8534fe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E0EEEABD-D3F2-4B32-9A1A-64560AC4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Features offered by the solution">
            <a:extLst xmlns:a="http://schemas.openxmlformats.org/drawingml/2006/main">
              <a:ext uri="{FF2B5EF4-FFF2-40B4-BE49-F238E27FC236}">
                <a16:creationId xmlns:a16="http://schemas.microsoft.com/office/drawing/2014/main" id="{94425884-AD00-470D-90BD-FECB8B0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Features offered by the solution</a:t>
            </a:r>
          </a:p>
        </p:txBody>
      </p:sp>
      <p:sp>
        <p:nvSpPr>
          <p:cNvPr id="88" name="OpsCrew  /  Precloud review  /  4">
            <a:extLst xmlns:a="http://schemas.openxmlformats.org/drawingml/2006/main">
              <a:ext uri="{FF2B5EF4-FFF2-40B4-BE49-F238E27FC236}">
                <a16:creationId xmlns:a16="http://schemas.microsoft.com/office/drawing/2014/main" id="{3516B486-DAD9-43C4-8F04-A974491D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4</a:t>
            </a:r>
          </a:p>
        </p:txBody>
      </p:sp>
      <p:sp>
        <p:nvSpPr>
          <p:cNvPr id="89" name="Synthetic presets and original text citations make">
            <a:extLst xmlns:a="http://schemas.openxmlformats.org/drawingml/2006/main">
              <a:ext uri="{FF2B5EF4-FFF2-40B4-BE49-F238E27FC236}">
                <a16:creationId xmlns:a16="http://schemas.microsoft.com/office/drawing/2014/main" id="{A983CE79-E525-43E2-90AD-72DDF24C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144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Synthetic presets and original text citations make intake decisions inspectable.</a:t>
            </a:r>
          </a:p>
        </p:txBody>
      </p:sp>
      <p:sp>
        <p:nvSpPr>
          <p:cNvPr id="90" name="Facts, Planner and Reviewer outputs expose disagre">
            <a:extLst xmlns:a="http://schemas.openxmlformats.org/drawingml/2006/main">
              <a:ext uri="{FF2B5EF4-FFF2-40B4-BE49-F238E27FC236}">
                <a16:creationId xmlns:a16="http://schemas.microsoft.com/office/drawing/2014/main" id="{545CD3E3-1D8B-4BC1-9011-CB78E510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145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Facts, Planner and Reviewer outputs expose disagreements and exact policy evidence.</a:t>
            </a:r>
          </a:p>
        </p:txBody>
      </p:sp>
      <p:sp>
        <p:nvSpPr>
          <p:cNvPr id="91" name="Firebase visitor identity, owned history and versi">
            <a:extLst xmlns:a="http://schemas.openxmlformats.org/drawingml/2006/main">
              <a:ext uri="{FF2B5EF4-FFF2-40B4-BE49-F238E27FC236}">
                <a16:creationId xmlns:a16="http://schemas.microsoft.com/office/drawing/2014/main" id="{B442F333-4585-4416-880D-81B5E1A4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Firebase visitor identity, owned history and version-bound confirmation protect each person's handling records.</a:t>
            </a:r>
          </a:p>
        </p:txBody>
      </p:sp>
      <p:sp>
        <p:nvSpPr>
          <p:cNvPr id="92" name="Atomic writes, idempotent recovery and independent">
            <a:extLst xmlns:a="http://schemas.openxmlformats.org/drawingml/2006/main">
              <a:ext uri="{FF2B5EF4-FFF2-40B4-BE49-F238E27FC236}">
                <a16:creationId xmlns:a16="http://schemas.microsoft.com/office/drawing/2014/main" id="{59FDD86E-EA8D-4C75-B38E-DD78394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14750"/>
            <a:ext cx="845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Atomic writes, idempotent recovery and independent readback prevent duplicate or unverified success. Shared quotas bound model traffic.</a:t>
            </a:r>
          </a:p>
        </p:txBody>
      </p:sp>
    </p:spTree>
    <p:extLst>
      <p:ext uri="{BB962C8B-B14F-4D97-AF65-F5344CB8AC3E}">
        <p14:creationId xmlns:p14="http://schemas.microsoft.com/office/powerpoint/2010/main" val="21256134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4214C700-1E75-4087-834F-2E5F581B6B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f1f057b5bf413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38596B21-A334-48D0-AEDF-637961CF0A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210867a844b9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E86AB94A-D627-40A1-9C70-3B166EB0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Process flow and confirmation">
            <a:extLst xmlns:a="http://schemas.openxmlformats.org/drawingml/2006/main">
              <a:ext uri="{FF2B5EF4-FFF2-40B4-BE49-F238E27FC236}">
                <a16:creationId xmlns:a16="http://schemas.microsoft.com/office/drawing/2014/main" id="{FF1C197C-E880-4671-9A62-C0FA5AA7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Process flow and confirmation</a:t>
            </a:r>
          </a:p>
        </p:txBody>
      </p:sp>
      <p:sp>
        <p:nvSpPr>
          <p:cNvPr id="96" name="OpsCrew  /  Precloud review  /  5">
            <a:extLst xmlns:a="http://schemas.openxmlformats.org/drawingml/2006/main">
              <a:ext uri="{FF2B5EF4-FFF2-40B4-BE49-F238E27FC236}">
                <a16:creationId xmlns:a16="http://schemas.microsoft.com/office/drawing/2014/main" id="{7866CF37-E11E-4F63-9A6C-8A357952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5</a:t>
            </a:r>
          </a:p>
        </p:txBody>
      </p:sp>
      <p:sp>
        <p:nvSpPr>
          <p:cNvPr id="97" name="Synthetic intake">
            <a:extLst xmlns:a="http://schemas.openxmlformats.org/drawingml/2006/main">
              <a:ext uri="{FF2B5EF4-FFF2-40B4-BE49-F238E27FC236}">
                <a16:creationId xmlns:a16="http://schemas.microsoft.com/office/drawing/2014/main" id="{F0A91D41-4064-47FB-9B66-BEA4072C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Synthetic intake</a:t>
            </a:r>
          </a:p>
        </p:txBody>
      </p:sp>
      <p:sp>
        <p:nvSpPr>
          <p:cNvPr id="98" name="Gemini facts">
            <a:extLst xmlns:a="http://schemas.openxmlformats.org/drawingml/2006/main">
              <a:ext uri="{FF2B5EF4-FFF2-40B4-BE49-F238E27FC236}">
                <a16:creationId xmlns:a16="http://schemas.microsoft.com/office/drawing/2014/main" id="{B282C4A5-A969-44E7-B535-53F8BD3C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facts</a:t>
            </a:r>
          </a:p>
        </p:txBody>
      </p:sp>
      <p:sp>
        <p:nvSpPr>
          <p:cNvPr id="99" name="Planner + Reviewer">
            <a:extLst xmlns:a="http://schemas.openxmlformats.org/drawingml/2006/main">
              <a:ext uri="{FF2B5EF4-FFF2-40B4-BE49-F238E27FC236}">
                <a16:creationId xmlns:a16="http://schemas.microsoft.com/office/drawing/2014/main" id="{ED6AF483-BE32-45CD-A200-CEC7C87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Planner + Reviewer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0C15A2-85D7-408A-8D3B-4BD0FC7E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85ACCA-9BA5-4CAC-BFE9-98A1AB1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3F07A6C-17FE-40A2-A803-FA04E04D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400925" y="23145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3" name="Saved record readback">
            <a:extLst xmlns:a="http://schemas.openxmlformats.org/drawingml/2006/main">
              <a:ext uri="{FF2B5EF4-FFF2-40B4-BE49-F238E27FC236}">
                <a16:creationId xmlns:a16="http://schemas.microsoft.com/office/drawing/2014/main" id="{8690E8C0-135E-4AEC-8E64-8CB98E99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Saved record readback</a:t>
            </a:r>
          </a:p>
        </p:txBody>
      </p:sp>
      <p:sp>
        <p:nvSpPr>
          <p:cNvPr id="104" name="Human confirmation">
            <a:extLst xmlns:a="http://schemas.openxmlformats.org/drawingml/2006/main">
              <a:ext uri="{FF2B5EF4-FFF2-40B4-BE49-F238E27FC236}">
                <a16:creationId xmlns:a16="http://schemas.microsoft.com/office/drawing/2014/main" id="{651705E3-D90E-45EE-81FF-2168264A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Human confirmation</a:t>
            </a:r>
          </a:p>
        </p:txBody>
      </p:sp>
      <p:sp>
        <p:nvSpPr>
          <p:cNvPr id="105" name="Fixed policy checks">
            <a:extLst xmlns:a="http://schemas.openxmlformats.org/drawingml/2006/main">
              <a:ext uri="{FF2B5EF4-FFF2-40B4-BE49-F238E27FC236}">
                <a16:creationId xmlns:a16="http://schemas.microsoft.com/office/drawing/2014/main" id="{15F51376-5359-4851-A0B7-0C9D4E22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908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Fixed policy checks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46EBEC2-CB64-4293-8854-FDE02E4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33700" y="30670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2D1A50-6982-402D-86B1-7D00B6BC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5886450" y="30670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08" name="Missing evidence produces a request plan. Contradi">
            <a:extLst xmlns:a="http://schemas.openxmlformats.org/drawingml/2006/main">
              <a:ext uri="{FF2B5EF4-FFF2-40B4-BE49-F238E27FC236}">
                <a16:creationId xmlns:a16="http://schemas.microsoft.com/office/drawing/2014/main" id="{585C0F91-E215-419E-B608-10B532F3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962400"/>
            <a:ext cx="8429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Missing evidence produces a request plan. Contradictions block progression.</a:t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Editing intake requires a new analysis and a new confirmation.</a:t>
            </a:r>
          </a:p>
        </p:txBody>
      </p:sp>
    </p:spTree>
    <p:extLst>
      <p:ext uri="{BB962C8B-B14F-4D97-AF65-F5344CB8AC3E}">
        <p14:creationId xmlns:p14="http://schemas.microsoft.com/office/powerpoint/2010/main" val="8632755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BD807929-7693-41E8-A5BB-3280DB49E9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f4c20585904b6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855CEC91-353A-486F-BEFF-F782385174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f9ed65cfc41b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9F450C40-67CD-4FBF-BBEB-6CB5EE6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Interface and narrow-screen review">
            <a:extLst xmlns:a="http://schemas.openxmlformats.org/drawingml/2006/main">
              <a:ext uri="{FF2B5EF4-FFF2-40B4-BE49-F238E27FC236}">
                <a16:creationId xmlns:a16="http://schemas.microsoft.com/office/drawing/2014/main" id="{B1C4401D-775F-4E31-B662-E3855741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Interface and narrow-screen review</a:t>
            </a:r>
          </a:p>
        </p:txBody>
      </p:sp>
      <p:sp>
        <p:nvSpPr>
          <p:cNvPr id="104" name="OpsCrew  /  Precloud review  /  6">
            <a:extLst xmlns:a="http://schemas.openxmlformats.org/drawingml/2006/main">
              <a:ext uri="{FF2B5EF4-FFF2-40B4-BE49-F238E27FC236}">
                <a16:creationId xmlns:a16="http://schemas.microsoft.com/office/drawing/2014/main" id="{F4711094-49C4-4E3A-976A-824E29FF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6</a:t>
            </a:r>
          </a:p>
        </p:txBody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BF0FA09-79BA-43A4-B948-22288AA57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c81fbf9d84a13"/>
          <a:stretch xmlns:a="http://schemas.openxmlformats.org/drawingml/2006/main"/>
        </p:blipFill>
        <p:spPr>
          <a:xfrm xmlns:a="http://schemas.openxmlformats.org/drawingml/2006/main">
            <a:off x="553048" y="1190625"/>
            <a:ext cx="1627579" cy="3524250"/>
          </a:xfrm>
          <a:prstGeom xmlns:a="http://schemas.openxmlformats.org/drawingml/2006/main" prst="rect">
            <a:avLst/>
          </a:prstGeom>
        </p:spPr>
      </p:pic>
      <p:sp>
        <p:nvSpPr>
          <p:cNvPr id="106" name="Observed local browser behavior">
            <a:extLst xmlns:a="http://schemas.openxmlformats.org/drawingml/2006/main">
              <a:ext uri="{FF2B5EF4-FFF2-40B4-BE49-F238E27FC236}">
                <a16:creationId xmlns:a16="http://schemas.microsoft.com/office/drawing/2014/main" id="{0838E690-E7BD-4DB4-BA4C-35C58DEE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00175"/>
            <a:ext cx="604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Observed local browser behavior</a:t>
            </a:r>
          </a:p>
        </p:txBody>
      </p:sp>
      <p:sp>
        <p:nvSpPr>
          <p:cNvPr id="107" name="Explicit confirmation remains separate from the AI">
            <a:extLst xmlns:a="http://schemas.openxmlformats.org/drawingml/2006/main">
              <a:ext uri="{FF2B5EF4-FFF2-40B4-BE49-F238E27FC236}">
                <a16:creationId xmlns:a16="http://schemas.microsoft.com/office/drawing/2014/main" id="{E5CBA440-EBB8-44B0-BF06-FA24A3AC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81200"/>
            <a:ext cx="595312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Explicit confirmation remains separate from the AI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Saved history survives a page reload with the same visitor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390 px viewport had no horizontal overflow. Keyboard focus was visible.</a:t>
            </a:r>
          </a:p>
        </p:txBody>
      </p:sp>
      <p:sp>
        <p:nvSpPr>
          <p:cNvPr id="108" name="Screenshot: local Auth/Firestore emulators and inj">
            <a:extLst xmlns:a="http://schemas.openxmlformats.org/drawingml/2006/main">
              <a:ext uri="{FF2B5EF4-FFF2-40B4-BE49-F238E27FC236}">
                <a16:creationId xmlns:a16="http://schemas.microsoft.com/office/drawing/2014/main" id="{140258E8-788E-486C-B9FB-3841CA4B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29100"/>
            <a:ext cx="595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Screenshot: local Auth/Firestore emulators and injected model output, 10 October. Public cloud behavior awaits acceptance.</a:t>
            </a:r>
          </a:p>
        </p:txBody>
      </p:sp>
    </p:spTree>
    <p:extLst>
      <p:ext uri="{BB962C8B-B14F-4D97-AF65-F5344CB8AC3E}">
        <p14:creationId xmlns:p14="http://schemas.microsoft.com/office/powerpoint/2010/main" val="3224040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A80388FC-B4EE-447C-9A26-65304E6713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c6929c9d7046b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279C1A54-7500-414F-82D7-3598F553E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c7657c37e4e7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8B8B09BA-9161-4B11-9483-FF3D2CE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Architecture of the proposed cloud deployment">
            <a:extLst xmlns:a="http://schemas.openxmlformats.org/drawingml/2006/main">
              <a:ext uri="{FF2B5EF4-FFF2-40B4-BE49-F238E27FC236}">
                <a16:creationId xmlns:a16="http://schemas.microsoft.com/office/drawing/2014/main" id="{037E349A-54C4-456E-8387-FA45A6D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Architecture of the proposed cloud deployment</a:t>
            </a:r>
          </a:p>
        </p:txBody>
      </p:sp>
      <p:sp>
        <p:nvSpPr>
          <p:cNvPr id="112" name="OpsCrew  /  Precloud review  /  7">
            <a:extLst xmlns:a="http://schemas.openxmlformats.org/drawingml/2006/main">
              <a:ext uri="{FF2B5EF4-FFF2-40B4-BE49-F238E27FC236}">
                <a16:creationId xmlns:a16="http://schemas.microsoft.com/office/drawing/2014/main" id="{D939E354-BF2B-4D78-BA0E-E1DC590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7</a:t>
            </a:r>
          </a:p>
        </p:txBody>
      </p:sp>
      <p:sp>
        <p:nvSpPr>
          <p:cNvPr id="113" name="Browser&#10;English React interface">
            <a:extLst xmlns:a="http://schemas.openxmlformats.org/drawingml/2006/main">
              <a:ext uri="{FF2B5EF4-FFF2-40B4-BE49-F238E27FC236}">
                <a16:creationId xmlns:a16="http://schemas.microsoft.com/office/drawing/2014/main" id="{6A6D07DD-814E-4355-A99F-46DCCC61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Browser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English React interface</a:t>
            </a:r>
          </a:p>
        </p:txBody>
      </p:sp>
      <p:sp>
        <p:nvSpPr>
          <p:cNvPr id="114" name="Cloud Run&#10;Node API + validators">
            <a:extLst xmlns:a="http://schemas.openxmlformats.org/drawingml/2006/main">
              <a:ext uri="{FF2B5EF4-FFF2-40B4-BE49-F238E27FC236}">
                <a16:creationId xmlns:a16="http://schemas.microsoft.com/office/drawing/2014/main" id="{6F724E6E-F1E1-4EDD-AA93-FA57BFC6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Node API + validators</a:t>
            </a:r>
          </a:p>
        </p:txBody>
      </p:sp>
      <p:sp>
        <p:nvSpPr>
          <p:cNvPr id="115" name="Gemini API&#10;Facts / plan / review">
            <a:extLst xmlns:a="http://schemas.openxmlformats.org/drawingml/2006/main">
              <a:ext uri="{FF2B5EF4-FFF2-40B4-BE49-F238E27FC236}">
                <a16:creationId xmlns:a16="http://schemas.microsoft.com/office/drawing/2014/main" id="{A511DE3B-BABC-4301-B686-84FA28D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81125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Gemini API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Facts / plan / review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7FD3F1B-71A5-4280-9200-E027C26C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A81C410-888C-450C-848C-27F1DBD4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1657350"/>
            <a:ext cx="2571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18" name="Firebase Auth&#10;Verified visitor identity">
            <a:extLst xmlns:a="http://schemas.openxmlformats.org/drawingml/2006/main">
              <a:ext uri="{FF2B5EF4-FFF2-40B4-BE49-F238E27FC236}">
                <a16:creationId xmlns:a16="http://schemas.microsoft.com/office/drawing/2014/main" id="{4E6AE064-256D-4FBC-89A6-78FF6071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Firebase Auth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Verified visitor identity</a:t>
            </a:r>
          </a:p>
        </p:txBody>
      </p:sp>
      <p:sp>
        <p:nvSpPr>
          <p:cNvPr id="119" name="Firestore&#10;Plans / cases / quotas">
            <a:extLst xmlns:a="http://schemas.openxmlformats.org/drawingml/2006/main">
              <a:ext uri="{FF2B5EF4-FFF2-40B4-BE49-F238E27FC236}">
                <a16:creationId xmlns:a16="http://schemas.microsoft.com/office/drawing/2014/main" id="{063DC1E5-5C19-4562-8FC6-8610C92E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Plans / cases / quotas</a:t>
            </a:r>
          </a:p>
        </p:txBody>
      </p:sp>
      <p:sp>
        <p:nvSpPr>
          <p:cNvPr id="120" name="Secret Manager&#10;Server credential only">
            <a:extLst xmlns:a="http://schemas.openxmlformats.org/drawingml/2006/main">
              <a:ext uri="{FF2B5EF4-FFF2-40B4-BE49-F238E27FC236}">
                <a16:creationId xmlns:a16="http://schemas.microsoft.com/office/drawing/2014/main" id="{31FDAA18-DA23-48D0-A1DD-4D756EE3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2524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B8CCD3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Secret Manager</a:t>
            </a:r>
          </a:p>
          <a:p xmlns:a="http://schemas.openxmlformats.org/drawingml/2006/main">
            <a:pPr algn="ctr">
              <a:def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>
                <a:solidFill>
                  <a:srgbClr val="173B4C"/>
                </a:solidFill>
                <a:latin typeface="Google Sans Flex Medium"/>
                <a:ea typeface="Google Sans Flex Medium"/>
                <a:cs typeface="Google Sans Flex Medium"/>
              </a:rPr>
              <a:t>Server credential only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A5A4804-9A0F-4A38-90D3-C250EDE8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57700" y="2352675"/>
            <a:ext cx="2667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67481"/>
          </a:solidFill>
          <a:ln xmlns:a="http://schemas.openxmlformats.org/drawingml/2006/main" w="0">
            <a:noFill/>
          </a:ln>
        </p:spPr>
      </p:sp>
      <p:sp>
        <p:nvSpPr>
          <p:cNvPr id="122" name="The server verifies ownership and mediates every b">
            <a:extLst xmlns:a="http://schemas.openxmlformats.org/drawingml/2006/main">
              <a:ext uri="{FF2B5EF4-FFF2-40B4-BE49-F238E27FC236}">
                <a16:creationId xmlns:a16="http://schemas.microsoft.com/office/drawing/2014/main" id="{7E2F8B2E-06DB-4D13-AC87-DDC52A77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95750"/>
            <a:ext cx="8429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server verifies ownership and mediates every business write. Browser Firestore access is denied. Cloud deployment remains the next team gate.</a:t>
            </a:r>
          </a:p>
        </p:txBody>
      </p:sp>
    </p:spTree>
    <p:extLst>
      <p:ext uri="{BB962C8B-B14F-4D97-AF65-F5344CB8AC3E}">
        <p14:creationId xmlns:p14="http://schemas.microsoft.com/office/powerpoint/2010/main" val="7796295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5129BAB4-742A-4C64-8926-F61B3AE16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a45a9bb76c4b9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02B3F9CB-6DA5-4DC0-9704-BEAE7B4D70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e951b6a1a4b2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F147A6FD-5314-4252-8ECB-F37BC018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Technologies used in the solution">
            <a:extLst xmlns:a="http://schemas.openxmlformats.org/drawingml/2006/main">
              <a:ext uri="{FF2B5EF4-FFF2-40B4-BE49-F238E27FC236}">
                <a16:creationId xmlns:a16="http://schemas.microsoft.com/office/drawing/2014/main" id="{8594DE1F-4537-4362-B9B3-E2FF2796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Technologies used in the solution</a:t>
            </a:r>
          </a:p>
        </p:txBody>
      </p:sp>
      <p:sp>
        <p:nvSpPr>
          <p:cNvPr id="120" name="OpsCrew  /  Precloud review  /  8">
            <a:extLst xmlns:a="http://schemas.openxmlformats.org/drawingml/2006/main">
              <a:ext uri="{FF2B5EF4-FFF2-40B4-BE49-F238E27FC236}">
                <a16:creationId xmlns:a16="http://schemas.microsoft.com/office/drawing/2014/main" id="{224711CD-E522-4B3B-BC2F-69FF0754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8</a:t>
            </a:r>
          </a:p>
        </p:txBody>
      </p:sp>
      <p:graphicFrame>
        <p:nvGraphicFrame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458C0C6-4704-4E50-9E76-41F0E1E32267}"/>
              </a:ext>
            </a:extLst>
          </p:cNvPr>
          <p:cNvGraphicFramePr/>
          <p:nvPr/>
        </p:nvGraphicFramePr>
        <p:xfrm>
          <a:off xmlns:a="http://schemas.openxmlformats.org/drawingml/2006/main" x="342900" y="1314450"/>
          <a:ext xmlns:a="http://schemas.openxmlformats.org/drawingml/2006/main" cx="84582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410200"/>
              </a:tblGrid>
              <a:tr h="4968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Google AI Studio Build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Fresh application origin on 7 October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Gemini 3.1 Flash-Lite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Facts, separately prompted Planner and Reviewer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Node 24 / React / TypeScript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API, explicit review interface and fixed validators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Firebase Auth + Firestore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Visitor ownership, atomic records and shared quotas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Cloud Run + Secret Manager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Planned public runtime and server-only credential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2" name="Local extensions are disclosed. No code from the e">
            <a:extLst xmlns:a="http://schemas.openxmlformats.org/drawingml/2006/main">
              <a:ext uri="{FF2B5EF4-FFF2-40B4-BE49-F238E27FC236}">
                <a16:creationId xmlns:a16="http://schemas.microsoft.com/office/drawing/2014/main" id="{33BDF935-E6B6-444A-BB58-12C758CF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29125"/>
            <a:ext cx="8458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35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Local extensions are disclosed. No code from the earlier non-Google prototype entered this repository.</a:t>
            </a:r>
          </a:p>
        </p:txBody>
      </p:sp>
    </p:spTree>
    <p:extLst>
      <p:ext uri="{BB962C8B-B14F-4D97-AF65-F5344CB8AC3E}">
        <p14:creationId xmlns:p14="http://schemas.microsoft.com/office/powerpoint/2010/main" val="521787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D29BF0EF-7CA2-452F-8849-24FE2BA032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ae951cacb8407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75ECD90B-0EA1-4CA6-90A3-45F36CEC87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e654a940143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55EE9EAB-81D3-4DE6-A73D-9924B6CD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Implementation cost and traffic controls">
            <a:extLst xmlns:a="http://schemas.openxmlformats.org/drawingml/2006/main">
              <a:ext uri="{FF2B5EF4-FFF2-40B4-BE49-F238E27FC236}">
                <a16:creationId xmlns:a16="http://schemas.microsoft.com/office/drawing/2014/main" id="{9F86A24A-B6EE-41BF-83C2-64943582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Implementation cost and traffic controls</a:t>
            </a:r>
          </a:p>
        </p:txBody>
      </p:sp>
      <p:sp>
        <p:nvSpPr>
          <p:cNvPr id="128" name="OpsCrew  /  Precloud review  /  9">
            <a:extLst xmlns:a="http://schemas.openxmlformats.org/drawingml/2006/main">
              <a:ext uri="{FF2B5EF4-FFF2-40B4-BE49-F238E27FC236}">
                <a16:creationId xmlns:a16="http://schemas.microsoft.com/office/drawing/2014/main" id="{0D53BCB5-D385-4F39-9E5E-84AC1A29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9</a:t>
            </a:r>
          </a:p>
        </p:txBody>
      </p:sp>
      <p:sp>
        <p:nvSpPr>
          <p:cNvPr id="129" name="Team management target: USD 40. Billing alerts and">
            <a:extLst xmlns:a="http://schemas.openxmlformats.org/drawingml/2006/main">
              <a:ext uri="{FF2B5EF4-FFF2-40B4-BE49-F238E27FC236}">
                <a16:creationId xmlns:a16="http://schemas.microsoft.com/office/drawing/2014/main" id="{8589BBD6-AD9D-4570-9482-C4AE4416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382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Team management target: USD 40. Billing alerts and application quotas cannot guarantee a monetary spending cap.</a:t>
            </a:r>
          </a:p>
        </p:txBody>
      </p:sp>
      <p:sp>
        <p:nvSpPr>
          <p:cNvPr id="130" name="Default model limits: 2 concurrent runs globally, ">
            <a:extLst xmlns:a="http://schemas.openxmlformats.org/drawingml/2006/main">
              <a:ext uri="{FF2B5EF4-FFF2-40B4-BE49-F238E27FC236}">
                <a16:creationId xmlns:a16="http://schemas.microsoft.com/office/drawing/2014/main" id="{C10B4A28-6EF8-40C2-9BA3-F84D2815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764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Default model limits: 2 concurrent runs globally, 1 per visitor. Each visitor has 2 runs per minute and 12 per UTC day.</a:t>
            </a:r>
          </a:p>
        </p:txBody>
      </p:sp>
      <p:sp>
        <p:nvSpPr>
          <p:cNvPr id="131" name="Global limits: 6 runs per minute and 60 per UTC da">
            <a:extLst xmlns:a="http://schemas.openxmlformats.org/drawingml/2006/main">
              <a:ext uri="{FF2B5EF4-FFF2-40B4-BE49-F238E27FC236}">
                <a16:creationId xmlns:a16="http://schemas.microsoft.com/office/drawing/2014/main" id="{AAAB4FC7-4FF5-434B-AC78-C82BA041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Global limits: 6 runs per minute and 60 per UTC day. Each workflow reserves up to 6 provider attempts. Unknown usage receives no refund.</a:t>
            </a:r>
          </a:p>
        </p:txBody>
      </p:sp>
      <p:sp>
        <p:nvSpPr>
          <p:cNvPr id="132" name="Record tokens, elapsed time and failures from real">
            <a:extLst xmlns:a="http://schemas.openxmlformats.org/drawingml/2006/main">
              <a:ext uri="{FF2B5EF4-FFF2-40B4-BE49-F238E27FC236}">
                <a16:creationId xmlns:a16="http://schemas.microsoft.com/office/drawing/2014/main" id="{44A2AE94-3958-41EC-8B1D-498E6E9A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52850"/>
            <a:ext cx="8458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Record tokens, elapsed time and failures from real runs. Historical live failures have unknown usage and billed cost. Verify actual cloud pricing before activation.</a:t>
            </a:r>
          </a:p>
        </p:txBody>
      </p:sp>
    </p:spTree>
    <p:extLst>
      <p:ext uri="{BB962C8B-B14F-4D97-AF65-F5344CB8AC3E}">
        <p14:creationId xmlns:p14="http://schemas.microsoft.com/office/powerpoint/2010/main" val="17858254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3DCEDE80-16CF-4C20-9B25-F3D7004DBC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0fcd66d126440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C4FBA507-F3FA-4762-8DF5-9577CD9231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911532baa4ff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AC8AACC5-E8C2-4048-B80C-822BB16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Snapshots of the prototype">
            <a:extLst xmlns:a="http://schemas.openxmlformats.org/drawingml/2006/main">
              <a:ext uri="{FF2B5EF4-FFF2-40B4-BE49-F238E27FC236}">
                <a16:creationId xmlns:a16="http://schemas.microsoft.com/office/drawing/2014/main" id="{E06284C4-4D6D-4D9A-83DF-1AF302F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Snapshots of the prototype</a:t>
            </a:r>
          </a:p>
        </p:txBody>
      </p:sp>
      <p:sp>
        <p:nvSpPr>
          <p:cNvPr id="136" name="OpsCrew  /  Precloud review  /  10">
            <a:extLst xmlns:a="http://schemas.openxmlformats.org/drawingml/2006/main">
              <a:ext uri="{FF2B5EF4-FFF2-40B4-BE49-F238E27FC236}">
                <a16:creationId xmlns:a16="http://schemas.microsoft.com/office/drawing/2014/main" id="{3A220A67-8E62-4A8B-99E3-0338019B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10</a:t>
            </a:r>
          </a:p>
        </p:txBody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2C2BB27-77F7-45D3-BC12-46CAB33587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c04fd5ce0492b"/>
          <a:stretch xmlns:a="http://schemas.openxmlformats.org/drawingml/2006/main"/>
        </p:blipFill>
        <p:spPr>
          <a:xfrm xmlns:a="http://schemas.openxmlformats.org/drawingml/2006/main">
            <a:off x="1021195" y="1143000"/>
            <a:ext cx="4215536" cy="3514725"/>
          </a:xfrm>
          <a:prstGeom xmlns:a="http://schemas.openxmlformats.org/drawingml/2006/main" prst="rect">
            <a:avLst/>
          </a:prstGeom>
        </p:spPr>
      </p:pic>
      <p:sp>
        <p:nvSpPr>
          <p:cNvPr id="138" name="Synthetic USD 38&#10;missing-receipt example">
            <a:extLst xmlns:a="http://schemas.openxmlformats.org/drawingml/2006/main">
              <a:ext uri="{FF2B5EF4-FFF2-40B4-BE49-F238E27FC236}">
                <a16:creationId xmlns:a16="http://schemas.microsoft.com/office/drawing/2014/main" id="{0AAD808B-0FFA-49C7-A300-38741015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14450"/>
            <a:ext cx="2581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Synthetic USD 38</a:t>
            </a:r>
          </a:p>
          <a:p xmlns:a="http://schemas.openxmlformats.org/drawingml/2006/main">
            <a:pPr>
              <a:defRPr sz="18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missing-receipt example</a:t>
            </a:r>
          </a:p>
        </p:txBody>
      </p:sp>
      <p:sp>
        <p:nvSpPr>
          <p:cNvPr id="139" name="The plan requests a receipt.&#10;&#10;A person confirms th">
            <a:extLst xmlns:a="http://schemas.openxmlformats.org/drawingml/2006/main">
              <a:ext uri="{FF2B5EF4-FFF2-40B4-BE49-F238E27FC236}">
                <a16:creationId xmlns:a16="http://schemas.microsoft.com/office/drawing/2014/main" id="{1B0E5754-54F6-47C2-9101-F3C3975B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14575"/>
            <a:ext cx="2581275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plan requests a receipt.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 person confirms the handling record. The API then independently reads the saved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No payment occurs.</a:t>
            </a:r>
          </a:p>
        </p:txBody>
      </p:sp>
      <p:sp>
        <p:nvSpPr>
          <p:cNvPr id="140" name="Local emulators + injected models.&#10;10 October 2026">
            <a:extLst xmlns:a="http://schemas.openxmlformats.org/drawingml/2006/main">
              <a:ext uri="{FF2B5EF4-FFF2-40B4-BE49-F238E27FC236}">
                <a16:creationId xmlns:a16="http://schemas.microsoft.com/office/drawing/2014/main" id="{0F49317B-D8EF-459C-A23F-8F787187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76725"/>
            <a:ext cx="2581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Local emulators + injected models.</a:t>
            </a:r>
          </a:p>
          <a:p xmlns:a="http://schemas.openxmlformats.org/drawingml/2006/main">
            <a:pPr>
              <a:defRPr sz="12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10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5566352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84E07432-13F4-4300-A76C-9F03DE6BBE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b7b9741b1b407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8B7BCDB4-A248-4149-8FC8-AD7F45A51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89f4ac6994f8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88135106-7473-4E38-ADEA-8CE339F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Performance report and evidence boundaries">
            <a:extLst xmlns:a="http://schemas.openxmlformats.org/drawingml/2006/main">
              <a:ext uri="{FF2B5EF4-FFF2-40B4-BE49-F238E27FC236}">
                <a16:creationId xmlns:a16="http://schemas.microsoft.com/office/drawing/2014/main" id="{5B4BA0AA-43E4-4777-A2B3-C436823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Performance report and evidence boundaries</a:t>
            </a:r>
          </a:p>
        </p:txBody>
      </p:sp>
      <p:sp>
        <p:nvSpPr>
          <p:cNvPr id="144" name="OpsCrew  /  Precloud review  /  11">
            <a:extLst xmlns:a="http://schemas.openxmlformats.org/drawingml/2006/main">
              <a:ext uri="{FF2B5EF4-FFF2-40B4-BE49-F238E27FC236}">
                <a16:creationId xmlns:a16="http://schemas.microsoft.com/office/drawing/2014/main" id="{8218C1A4-9617-4B90-8E5A-58CD4EED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11</a:t>
            </a:r>
          </a:p>
        </p:txBody>
      </p:sp>
      <p:graphicFrame>
        <p:nvGraphicFrame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E1D0B5B-3BFB-4D03-80ED-A33B16E46DF6}"/>
              </a:ext>
            </a:extLst>
          </p:cNvPr>
          <p:cNvGraphicFramePr/>
          <p:nvPr/>
        </p:nvGraphicFramePr>
        <p:xfrm>
          <a:off xmlns:a="http://schemas.openxmlformats.org/drawingml/2006/main" x="342900" y="1257300"/>
          <a:ext xmlns:a="http://schemas.openxmlformats.org/drawingml/2006/main" cx="84582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1504950"/>
                <a:gridCol w="4429125"/>
              </a:tblGrid>
              <a:tr h="425904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25904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Offline engineering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216 / 216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Policy / HTTP / UI regressions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5904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Auth + Firestore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27 / 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Real local emulators, injected models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5904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Public semantic cases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12 /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Injected models, MemoryCaseStore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5904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High-risk repeats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12 / 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4 predefined public cases, each 3 runs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5904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Fault / recovery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6 /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Injected failures and lost responses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5904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Production packaging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9 HTTP + 12 artifact groups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Google Sans Flex Medium"/>
                          <a:ea typeface="Google Sans Flex Medium"/>
                          <a:cs typeface="Google Sans Flex Medium"/>
                        </a:rPr>
                        <a:t>Pruned native runtime, no Docker daemon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Current local Gemini: 3 public branches passed aft">
            <a:extLst xmlns:a="http://schemas.openxmlformats.org/drawingml/2006/main">
              <a:ext uri="{FF2B5EF4-FFF2-40B4-BE49-F238E27FC236}">
                <a16:creationId xmlns:a16="http://schemas.microsoft.com/office/drawing/2014/main" id="{FE1C6EC5-2CB5-4620-A5E5-1CF3A129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71975"/>
            <a:ext cx="8458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27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Current local Gemini: 3 public branches passed after proxy repair. Three earlier failures remain recorded. Cloud stability and independent held-out acceptance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20308719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7ED28AF3-D8C7-45D5-9C15-BA6CBC70F0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f19dede0b746d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D970559C-8E57-4651-9760-9C5B90E8A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53b66b3724f0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8112E330-5260-47A5-9FB7-BDBEF03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Additional details and future development">
            <a:extLst xmlns:a="http://schemas.openxmlformats.org/drawingml/2006/main">
              <a:ext uri="{FF2B5EF4-FFF2-40B4-BE49-F238E27FC236}">
                <a16:creationId xmlns:a16="http://schemas.microsoft.com/office/drawing/2014/main" id="{D1406C28-1646-46D6-B87E-13AC1A9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Additional details and future development</a:t>
            </a:r>
          </a:p>
        </p:txBody>
      </p:sp>
      <p:sp>
        <p:nvSpPr>
          <p:cNvPr id="152" name="OpsCrew  /  Precloud review  /  12">
            <a:extLst xmlns:a="http://schemas.openxmlformats.org/drawingml/2006/main">
              <a:ext uri="{FF2B5EF4-FFF2-40B4-BE49-F238E27FC236}">
                <a16:creationId xmlns:a16="http://schemas.microsoft.com/office/drawing/2014/main" id="{EC85183C-6959-4813-B813-4FF440D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12</a:t>
            </a:r>
          </a:p>
        </p:txBody>
      </p:sp>
      <p:sp>
        <p:nvSpPr>
          <p:cNvPr id="153" name="Next acceptance: deploy the frozen release to Clou">
            <a:extLst xmlns:a="http://schemas.openxmlformats.org/drawingml/2006/main">
              <a:ext uri="{FF2B5EF4-FFF2-40B4-BE49-F238E27FC236}">
                <a16:creationId xmlns:a16="http://schemas.microsoft.com/office/drawing/2014/main" id="{7BA7EA2A-CF4E-488B-85B6-E8E7335D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5730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Next acceptance: deploy the frozen release to Cloud Run with real Firebase identity, Firestore and a server-only Gemini secret.</a:t>
            </a:r>
          </a:p>
        </p:txBody>
      </p:sp>
      <p:sp>
        <p:nvSpPr>
          <p:cNvPr id="154" name="The teammate seals eight independent cases before ">
            <a:extLst xmlns:a="http://schemas.openxmlformats.org/drawingml/2006/main">
              <a:ext uri="{FF2B5EF4-FFF2-40B4-BE49-F238E27FC236}">
                <a16:creationId xmlns:a16="http://schemas.microsoft.com/office/drawing/2014/main" id="{16AC19F2-48F7-450D-A354-D5829A93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8597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 teammate seals eight independent cases before first evaluation. Retain every attempt and run the main demo successfully three times in sequence.</a:t>
            </a:r>
          </a:p>
        </p:txBody>
      </p:sp>
      <p:sp>
        <p:nvSpPr>
          <p:cNvPr id="155" name="Then record the real cloud flow, publish the produ">
            <a:extLst xmlns:a="http://schemas.openxmlformats.org/drawingml/2006/main">
              <a:ext uri="{FF2B5EF4-FFF2-40B4-BE49-F238E27FC236}">
                <a16:creationId xmlns:a16="http://schemas.microsoft.com/office/drawing/2014/main" id="{0854387D-A75D-417F-AC4A-72723FDF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14650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Then record the real cloud flow, publish the product and sub-three-minute English video, and replace the draft proposal's pending link statuses.</a:t>
            </a:r>
          </a:p>
        </p:txBody>
      </p:sp>
      <p:sp>
        <p:nvSpPr>
          <p:cNvPr id="156" name="After evaluation, consider broader policies and st">
            <a:extLst xmlns:a="http://schemas.openxmlformats.org/drawingml/2006/main">
              <a:ext uri="{FF2B5EF4-FFF2-40B4-BE49-F238E27FC236}">
                <a16:creationId xmlns:a16="http://schemas.microsoft.com/office/drawing/2014/main" id="{3F98D012-918E-4FA0-BC15-69802266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743325"/>
            <a:ext cx="84582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After evaluation, consider broader policies and staff timing studies. Production reimbursement integrations require a separate design and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02590200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02EBA0AE-7B1D-42B2-9AD7-C41DAFD66C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985b05f71f4ba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B0498C6D-7AEB-4A04-89E7-2CC5C411C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deff22bd2445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FEA22013-7F95-47F7-BCED-B34FF281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Repository, demo and final product links">
            <a:extLst xmlns:a="http://schemas.openxmlformats.org/drawingml/2006/main">
              <a:ext uri="{FF2B5EF4-FFF2-40B4-BE49-F238E27FC236}">
                <a16:creationId xmlns:a16="http://schemas.microsoft.com/office/drawing/2014/main" id="{6C3F1D3B-3B0D-41DE-9863-B07EABA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610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Repository, demo and final product links</a:t>
            </a:r>
          </a:p>
        </p:txBody>
      </p:sp>
      <p:sp>
        <p:nvSpPr>
          <p:cNvPr id="160" name="OpsCrew  /  Precloud review  /  13">
            <a:extLst xmlns:a="http://schemas.openxmlformats.org/drawingml/2006/main">
              <a:ext uri="{FF2B5EF4-FFF2-40B4-BE49-F238E27FC236}">
                <a16:creationId xmlns:a16="http://schemas.microsoft.com/office/drawing/2014/main" id="{FB0831A7-E1D1-4874-B623-36F60E20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101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900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OpsCrew  /  Precloud review  /  13</a:t>
            </a:r>
          </a:p>
        </p:txBody>
      </p:sp>
      <p:sp>
        <p:nvSpPr>
          <p:cNvPr id="161" name="Public GitHub repository">
            <a:extLst xmlns:a="http://schemas.openxmlformats.org/drawingml/2006/main">
              <a:ext uri="{FF2B5EF4-FFF2-40B4-BE49-F238E27FC236}">
                <a16:creationId xmlns:a16="http://schemas.microsoft.com/office/drawing/2014/main" id="{080E4BA1-316A-4BA3-ACCC-86873171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90650"/>
            <a:ext cx="8458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1">
                <a:solidFill>
                  <a:srgbClr val="086A86"/>
                </a:solidFill>
                <a:latin typeface="Google Sans Flex Medium"/>
                <a:ea typeface="Google Sans Flex Medium"/>
                <a:cs typeface="Google Sans Flex Medium"/>
                <a:hlinkClick xmlns:r="http://schemas.openxmlformats.org/officeDocument/2006/relationships" r:id="R5e81557bc3924927"/>
              </a:rPr>
              <a:t>Public GitHub repository</a:t>
            </a:r>
          </a:p>
        </p:txBody>
      </p:sp>
      <p:sp>
        <p:nvSpPr>
          <p:cNvPr id="162" name="github.com/sundaylee3100-ljl/AI-Builder-Cup-2026-O">
            <a:extLst xmlns:a="http://schemas.openxmlformats.org/drawingml/2006/main">
              <a:ext uri="{FF2B5EF4-FFF2-40B4-BE49-F238E27FC236}">
                <a16:creationId xmlns:a16="http://schemas.microsoft.com/office/drawing/2014/main" id="{E4BAB5E9-A986-4DA9-94F9-257BEC0F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847850"/>
            <a:ext cx="845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425" b="0">
                <a:solidFill>
                  <a:srgbClr val="59636E"/>
                </a:solidFill>
                <a:latin typeface="Google Sans Flex Medium"/>
                <a:ea typeface="Google Sans Flex Medium"/>
                <a:cs typeface="Google Sans Flex Medium"/>
              </a:rPr>
              <a:t>github.com/sundaylee3100-ljl/AI-Builder-Cup-2026-OpsCrew</a:t>
            </a:r>
          </a:p>
        </p:txBody>
      </p:sp>
      <p:sp>
        <p:nvSpPr>
          <p:cNvPr id="163" name="Public demo video: pending final cloud recording&#10;F">
            <a:extLst xmlns:a="http://schemas.openxmlformats.org/drawingml/2006/main">
              <a:ext uri="{FF2B5EF4-FFF2-40B4-BE49-F238E27FC236}">
                <a16:creationId xmlns:a16="http://schemas.microsoft.com/office/drawing/2014/main" id="{CF898EE6-88FA-48AC-98A1-667F30DA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714625"/>
            <a:ext cx="8458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Public demo video: pending final cloud recording</a:t>
            </a:r>
          </a:p>
          <a:p xmlns:a="http://schemas.openxmlformats.org/drawingml/2006/main">
            <a:pPr>
              <a:def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Final product URL: pending teammate cloud deployment</a:t>
            </a:r>
          </a:p>
        </p:txBody>
      </p:sp>
      <p:sp>
        <p:nvSpPr>
          <p:cNvPr id="164" name="This proposal is a precloud review draft. The team">
            <a:extLst xmlns:a="http://schemas.openxmlformats.org/drawingml/2006/main">
              <a:ext uri="{FF2B5EF4-FFF2-40B4-BE49-F238E27FC236}">
                <a16:creationId xmlns:a16="http://schemas.microsoft.com/office/drawing/2014/main" id="{972D720F-5476-44D9-A23F-FA88118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114800"/>
            <a:ext cx="845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575" b="0">
                <a:solidFill>
                  <a:srgbClr val="17212B"/>
                </a:solidFill>
                <a:latin typeface="Google Sans Flex Medium"/>
                <a:ea typeface="Google Sans Flex Medium"/>
                <a:cs typeface="Google Sans Flex Medium"/>
              </a:rPr>
              <a:t>This proposal is a precloud review draft. The team must add working public links and verify anonymous access before contest submission.</a:t>
            </a:r>
          </a:p>
        </p:txBody>
      </p:sp>
    </p:spTree>
    <p:extLst>
      <p:ext uri="{BB962C8B-B14F-4D97-AF65-F5344CB8AC3E}">
        <p14:creationId xmlns:p14="http://schemas.microsoft.com/office/powerpoint/2010/main" val="1707272903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2026-10-11T12:48:54.5050000Z</dcterms:created>
  <dcterms:modified xsi:type="dcterms:W3CDTF">2026-10-11T12:48:54.5050000Z</dcterms:modified>
</coreProperties>
</file>